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 standalone="yes"?>
<p:presentation xmlns:a="http://schemas.openxmlformats.org/drawingml/2006/main" xmlns:r="http://schemas.openxmlformats.org/officeDocument/2006/relationships" xmlns:p="http://schemas.openxmlformats.org/presentationml/2006/main"  saveSubsetFonts="1" autoCompressPictures="0"><p:sldMasterIdLst><p:sldMasterId id="2147483648" r:id="rId1"/></p:sldMasterIdLst><p:sldIdLst><p:notesMasterIdLst><p:notesMasterId r:id="rId5"/></p:notesMasterIdLst><p:sldSz cx="9144000" cy="5143500"/><p:notesSz cx="5143500" cy="9144000"/><p:defaultTextStyle><a:lvl1pPr marL="0" algn="l" defTabSz="914400" rtl="0" eaLnBrk="1" latinLnBrk="0" hangingPunct="1"><a:defRPr sz="1800" kern="1200"><a:solidFill><a:schemeClr val="tx1"/></a:solidFill><a:latin typeface="+mn-lt"/><a:ea typeface="+mn-ea"/><a:cs typeface="+mn-cs"/></a:defRPr></a:lvl1pPr><a:lvl2pPr marL="457200" algn="l" defTabSz="914400" rtl="0" eaLnBrk="1" latinLnBrk="0" hangingPunct="1"><a:defRPr sz="1800" kern="1200"><a:solidFill><a:schemeClr val="tx1"/></a:solidFill><a:latin typeface="+mn-lt"/><a:ea typeface="+mn-ea"/><a:cs typeface="+mn-cs"/></a:defRPr></a:lvl2pPr><a:lvl3pPr marL="914400" algn="l" defTabSz="914400" rtl="0" eaLnBrk="1" latinLnBrk="0" hangingPunct="1"><a:defRPr sz="1800" kern="1200"><a:solidFill><a:schemeClr val="tx1"/></a:solidFill><a:latin typeface="+mn-lt"/><a:ea typeface="+mn-ea"/><a:cs typeface="+mn-cs"/></a:defRPr></a:lvl3pPr><a:lvl4pPr marL="1371600" algn="l" defTabSz="914400" rtl="0" eaLnBrk="1" latinLnBrk="0" hangingPunct="1"><a:defRPr sz="1800" kern="1200"><a:solidFill><a:schemeClr val="tx1"/></a:solidFill><a:latin typeface="+mn-lt"/><a:ea typeface="+mn-ea"/><a:cs typeface="+mn-cs"/></a:defRPr></a:lvl4pPr><a:lvl5pPr marL="1828800" algn="l" defTabSz="914400" rtl="0" eaLnBrk="1" latinLnBrk="0" hangingPunct="1"><a:defRPr sz="1800" kern="1200"><a:solidFill><a:schemeClr val="tx1"/></a:solidFill><a:latin typeface="+mn-lt"/><a:ea typeface="+mn-ea"/><a:cs typeface="+mn-cs"/></a:defRPr></a:lvl5pPr><a:lvl6pPr marL="2286000" algn="l" defTabSz="914400" rtl="0" eaLnBrk="1" latinLnBrk="0" hangingPunct="1"><a:defRPr sz="1800" kern="1200"><a:solidFill><a:schemeClr val="tx1"/></a:solidFill><a:latin typeface="+mn-lt"/><a:ea typeface="+mn-ea"/><a:cs typeface="+mn-cs"/></a:defRPr></a:lvl6pPr><a:lvl7pPr marL="2743200" algn="l" defTabSz="914400" rtl="0" eaLnBrk="1" latinLnBrk="0" hangingPunct="1"><a:defRPr sz="1800" kern="1200"><a:solidFill><a:schemeClr val="tx1"/></a:solidFill><a:latin typeface="+mn-lt"/><a:ea typeface="+mn-ea"/><a:cs typeface="+mn-cs"/></a:defRPr></a:lvl7pPr><a:lvl8pPr marL="3200400" algn="l" defTabSz="914400" rtl="0" eaLnBrk="1" latinLnBrk="0" hangingPunct="1"><a:defRPr sz="1800" kern="1200"><a:solidFill><a:schemeClr val="tx1"/></a:solidFill><a:latin typeface="+mn-lt"/><a:ea typeface="+mn-ea"/><a:cs typeface="+mn-cs"/></a:defRPr></a:lvl8pPr><a:lvl9pPr marL="3657600" algn="l" defTabSz="914400" rtl="0" eaLnBrk="1" latinLnBrk="0" hangingPunct="1"><a:defRPr sz="1800" kern="1200"><a:solidFill><a:schemeClr val="tx1"/></a:solidFill><a:latin typeface="+mn-lt"/><a:ea typeface="+mn-ea"/><a:cs typeface="+mn-cs"/></a:defRPr></a:lvl9pPr></p:defaultTextStyle></p:presentation>
      <p:sldId id="257" r:id="rId5"/>
      <p:sldId id="258" r:id="rId6"/>
      <p:sldId id="259" r:id="rId7"/>
      <p:sldId id="260" r:id="rId8"/>
      <p:sldId id="261" r:id="rId9"/>
      <p:sldId id="262" r:id="rId10"/>
      <p:sldId id="263" r:id="rId11"/>
      <p:sldId id="264" r:id="rId12"/>
      <p:sldId id="265" r:id="rId13"/>
      <p:sldId id="266" r:id="rId14"/>
      <p:sldId id="267" r:id="rId15"/>
      <p:sldId id="268" r:id="rId16"/>
    </p:sldId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presProps" Target="presProps.xml"/>
    <Relationship Id="rId3" Type="http://schemas.openxmlformats.org/officeDocument/2006/relationships/viewProps" Target="viewProps.xml"/>
    <Relationship Id="rId4" Type="http://schemas.openxmlformats.org/officeDocument/2006/relationships/theme" Target="theme/theme1.xml"/>
    <Relationship Id="rId5" Type="http://schemas.openxmlformats.org/officeDocument/2006/relationships/slide" Target="slides/slide1.xml"/>
    <Relationship Id="rId6" Type="http://schemas.openxmlformats.org/officeDocument/2006/relationships/slide" Target="slides/slide2.xml"/>
    <Relationship Id="rId7" Type="http://schemas.openxmlformats.org/officeDocument/2006/relationships/slide" Target="slides/slide3.xml"/>
    <Relationship Id="rId8" Type="http://schemas.openxmlformats.org/officeDocument/2006/relationships/slide" Target="slides/slide4.xml"/>
    <Relationship Id="rId9" Type="http://schemas.openxmlformats.org/officeDocument/2006/relationships/slide" Target="slides/slide5.xml"/>
    <Relationship Id="rId10" Type="http://schemas.openxmlformats.org/officeDocument/2006/relationships/slide" Target="slides/slide6.xml"/>
    <Relationship Id="rId11" Type="http://schemas.openxmlformats.org/officeDocument/2006/relationships/slide" Target="slides/slide7.xml"/>
    <Relationship Id="rId12" Type="http://schemas.openxmlformats.org/officeDocument/2006/relationships/slide" Target="slides/slide8.xml"/>
    <Relationship Id="rId13" Type="http://schemas.openxmlformats.org/officeDocument/2006/relationships/slide" Target="slides/slide9.xml"/>
    <Relationship Id="rId14" Type="http://schemas.openxmlformats.org/officeDocument/2006/relationships/slide" Target="slides/slide10.xml"/>
    <Relationship Id="rId15" Type="http://schemas.openxmlformats.org/officeDocument/2006/relationships/slide" Target="slides/slide11.xml"/>
    <Relationship Id="rId16" Type="http://schemas.openxmlformats.org/officeDocument/2006/relationships/slide" Target="slides/slide12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DeepSeek-V4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Report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24, 2026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828800" y="5029200"/>
            <a:ext cx="5486400" cy="45720"/>
          </a:xfrm>
          <a:prstGeom prst="rect">
            <a:avLst/>
          </a:prstGeom>
          <a:solidFill>
            <a:srgbClr val="408EC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概览 Overview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核心定位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让普通人用上 1M 上下文的 Agent 模型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关键数据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论文页数: 58 页技术报告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5661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模型版本: V4-Pro / V4-Flash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上下文长度: 1,000,000 tokens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4805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Codeforces 评分: 3206 (开源第一)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架构创新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mHC 残差升级架构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改进的残差连接机制，提升深层网络训练稳定性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Anticipatory Routing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预测性路由机制，动态分配计算资源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SwiGLU Clamping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激活值裁剪技术，控制数值范围提升训练效率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训练方法 Training Method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数据直接灌入预训练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突破传统"先预训练后微调"范式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4688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Agent 行为数据直接参与预训练阶段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原生支持工具调用、多步推理能力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 上下文训练策略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4114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渐进式长度扩展：4K → 32K → 128K → 1M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稀疏注意力机制降低计算复杂度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性能对比 Performance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代码能力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Codeforces: 3206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LiveCodeBench: 93.5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开源模型中断档领先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463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数学能力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212080" y="1920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Putnam 数学竞赛: 满分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200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创意写作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3657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Claude: 45.9% 胜率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40233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45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承认差距，诚实报告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0" y="3200400"/>
            <a:ext cx="3657600" cy="1371600"/>
          </a:xfrm>
          <a:prstGeom prst="rect">
            <a:avLst/>
          </a:prstGeom>
          <a:solidFill>
            <a:srgbClr val="CADCFC"/>
          </a:solidFill>
          <a:ln w="12700">
            <a:solidFill>
              <a:srgbClr val="408E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3832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"某些机制测出来有效，但不知道为什么"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定价策略 Pricing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V4-Pro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缓存命中: ¥1 / 百万 tokens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468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缓存未命中: ¥12 / 百万 tokens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输出: ¥24 / 百万 tokens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1463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V4-Flash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缓存命中: ¥0.2 / 百万 tokens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12080" y="2468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缓存未命中: ¥1 / 百万 tokens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212080" y="2926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输出: ¥2 / 百万 tokens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solidFill>
            <a:srgbClr val="CADCFC"/>
          </a:solidFill>
          <a:ln w="12700">
            <a:solidFill>
              <a:srgbClr val="408EC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1148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 版本价格仅为 Pro 的 1/5 ~ 1/12，大幅降低使用门槛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定位与愿景 Vision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核心定位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"不是世界最佳，是让普通人用上"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关键特性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1M 上下文窗口 - 处理长文档、代码库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原生 Agent 能力 - 工具调用、多步推理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114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高性价比 - Flash 版本成本极低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开源友好 - 技术报告完全公开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技术细节：mHC 架构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Modified Hybrid Connection (mHC)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残差连接的改进版本，解决深层网络训练不稳定问题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核心改进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动态权重调整：根据层深度自适应调节残差权重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梯度流优化：减少梯度消失/爆炸风险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内存效率：相比标准残差连接节省 15% 激活内存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43891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收敛速度：训练迭代次数减少约 20%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技术细节：Anticipatory Routing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预测性路由机制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根据输入内容预测所需计算资源，动态分配专家网络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工作流程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输入编码：快速编码器提取关键特征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路由预测：轻量级预测器估计所需专家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动态调度：仅激活预测的专家子集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43891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结果聚合：加权合并专家输出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solidFill>
            <a:srgbClr val="CADCFC"/>
          </a:solidFill>
          <a:ln w="12700">
            <a:solidFill>
              <a:srgbClr val="408EC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7548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效果：推理成本降低 40%，性能损失 &lt; 2%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技术细节：SwiGLU Clamping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激活值裁剪技术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限制 SwiGLU 激活函数的输出范围，稳定训练过程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核心设计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动态阈值：根据训练阶段自适应调整裁剪边界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梯度保护：裁剪区域保持梯度流动，避免 dead neurons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混合精度友好：减少 FP16 训练中的数值溢出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43891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零开销推理：训练时启用，推理时移除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实验结果：长上下文能力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测试基准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Needle in a Haystack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200400" y="19202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 tokens 中定位特定信息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0" y="19202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准确率 99.2%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Long Document QA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长文档阅读理解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0" y="23317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Score 87.5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Code Repository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2743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跨文件代码理解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2743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Pass@1 78.3%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154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Multi-hop Reasoning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00400" y="3154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多跳推理任务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0" y="3154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准确率 82.1%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solidFill>
            <a:srgbClr val="CADCFC"/>
          </a:solidFill>
          <a:ln w="12700">
            <a:solidFill>
              <a:srgbClr val="408EC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 上下文窗口在实际任务中有效，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而非仅理论支持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 Summary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核心贡献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mHC 残差升级架构 - 深层网络训练稳定性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3017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Agentic 数据预训练 - 原生工具调用能力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474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Anticipatory Routing - 动态计算资源分配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931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SwiGLU Clamping - 数值稳定性优化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1M 上下文窗口 - 实用化长文本处理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408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DeepSeek-V4: 让普通人用上 1M 上下文的 Agent 模型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DeepSeek-V4 技术报告</dc:title>
  <dc:subject>DeepSeek-V4 Technical Report</dc:subject>
  <dc:creator>DeepSeek Team</dc:creator>
  <cp:lastModifiedBy>DeepSeek Team</cp:lastModifiedBy>
  <cp:revision>1</cp:revision>
  <dcterms:created xsi:type="dcterms:W3CDTF">2026-04-24T13:56:58Z</dcterms:created>
  <dcterms:modified xsi:type="dcterms:W3CDTF">2026-04-24T13:56:58Z</dcterms:modified>
</cp:coreProperties>
</file>